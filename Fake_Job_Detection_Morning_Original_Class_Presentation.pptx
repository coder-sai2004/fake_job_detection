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3474720" cy="804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002060"/>
                </a:solidFill>
                <a:latin typeface="Times New Roman"/>
              </a:defRPr>
            </a:pPr>
            <a:r>
              <a:t>INTERNSHIP PROJECT REPORT ON</a:t>
            </a:r>
          </a:p>
          <a:p>
            <a:pPr algn="ctr">
              <a:spcAft>
                <a:spcPts val="800"/>
              </a:spcAft>
              <a:defRPr sz="3400" b="1">
                <a:solidFill>
                  <a:srgbClr val="FF0000"/>
                </a:solidFill>
                <a:latin typeface="Times New Roman"/>
              </a:defRPr>
            </a:pPr>
            <a:r>
              <a:t>ShieldJob AI: Multi-Modal Fake Job Detection System</a:t>
            </a:r>
          </a:p>
          <a:p>
            <a:pPr algn="ctr">
              <a:defRPr sz="1800" i="1">
                <a:solidFill>
                  <a:srgbClr val="0070C0"/>
                </a:solidFill>
                <a:latin typeface="Times New Roman"/>
              </a:defRPr>
            </a:pPr>
            <a:r>
              <a:t>An AI/ML-Powered Web Application &amp; Chrome Extension for Job Scam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7616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02060"/>
                </a:solidFill>
                <a:latin typeface="Times New Roman"/>
              </a:defRPr>
            </a:pPr>
            <a:r>
              <a:t>Presented By:</a:t>
            </a:r>
          </a:p>
          <a:p>
            <a:pPr algn="ctr">
              <a:spcAft>
                <a:spcPts val="600"/>
              </a:spcAft>
            </a:pPr>
            <a:r>
              <a:rPr sz="2400" b="1">
                <a:solidFill>
                  <a:srgbClr val="002060"/>
                </a:solidFill>
                <a:latin typeface="Times New Roman"/>
              </a:rPr>
              <a:t>Tanuku Ram Sai  </a:t>
            </a:r>
            <a:r>
              <a:rPr sz="2200" b="1">
                <a:solidFill>
                  <a:srgbClr val="FF0000"/>
                </a:solidFill>
                <a:latin typeface="Times New Roman"/>
              </a:rPr>
              <a:t>(PIN: 24A95A0503)</a:t>
            </a:r>
          </a:p>
          <a:p>
            <a:pPr algn="ctr"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Department of Computer Science &amp; Engineering</a:t>
            </a:r>
            <a:br/>
            <a:r>
              <a:t>Aditya University, Surampalem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Context: </a:t>
            </a:r>
            <a:r>
              <a:rPr sz="1900">
                <a:solidFill>
                  <a:srgbClr val="000000"/>
                </a:solidFill>
                <a:latin typeface="Times New Roman"/>
              </a:rPr>
              <a:t>With hiring moving online (LinkedIn, Indeed, Naukri), fake job postings have risen rapidly, causing financial loss and identity theft for job seekers.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The Challenge: </a:t>
            </a:r>
            <a:r>
              <a:rPr sz="1900">
                <a:solidFill>
                  <a:srgbClr val="000000"/>
                </a:solidFill>
                <a:latin typeface="Times New Roman"/>
              </a:rPr>
              <a:t>Scammers create convincing job posts with fake company domains and unrealistic salary promises that manual checks easily miss.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Proposed System: </a:t>
            </a:r>
            <a:r>
              <a:rPr sz="1900">
                <a:solidFill>
                  <a:srgbClr val="000000"/>
                </a:solidFill>
                <a:latin typeface="Times New Roman"/>
              </a:rPr>
              <a:t>ShieldJob AI is a multi-modal verification platform that evaluates job posts through 4 safety layers: Machine Learning (Random Forest), Google Gemini AI, Website Verification, and Social Footprint analysis.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Accessible Access: </a:t>
            </a:r>
            <a:r>
              <a:rPr sz="1900">
                <a:solidFill>
                  <a:srgbClr val="000000"/>
                </a:solidFill>
                <a:latin typeface="Times New Roman"/>
              </a:rPr>
              <a:t>Delivered through a modern Flask web application and a 1-click Google Chrome Extension (Manifest V3) for instant in-browser checks.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Key Result: </a:t>
            </a:r>
            <a:r>
              <a:rPr sz="1900">
                <a:solidFill>
                  <a:srgbClr val="000000"/>
                </a:solidFill>
                <a:latin typeface="Times New Roman"/>
              </a:rPr>
              <a:t>Achieved 98.05% accuracy across 17,880 benchmark job postings, providing instant risk scores (0–100%) and clear safety badges.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Digital Hiring Era: </a:t>
            </a:r>
            <a:r>
              <a:rPr sz="1900">
                <a:solidFill>
                  <a:srgbClr val="000000"/>
                </a:solidFill>
                <a:latin typeface="Times New Roman"/>
              </a:rPr>
              <a:t>Online job portals have made finding employment faster, but have also opened doors for recruitment scams and cyber fraud.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Modern Scam Tactics: </a:t>
            </a:r>
            <a:r>
              <a:rPr sz="1900">
                <a:solidFill>
                  <a:srgbClr val="000000"/>
                </a:solidFill>
                <a:latin typeface="Times New Roman"/>
              </a:rPr>
              <a:t>Fraudsters post fake openings, conduct sham interviews on Telegram/WhatsApp, and demand upfront fees for 'training' or 'equipment'.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Why Simple Checks Fail: </a:t>
            </a:r>
            <a:r>
              <a:rPr sz="1900">
                <a:solidFill>
                  <a:srgbClr val="000000"/>
                </a:solidFill>
                <a:latin typeface="Times New Roman"/>
              </a:rPr>
              <a:t>Traditional keyword filters miss sophisticated scam wording, while manual checks cannot easily verify domain age and official company records.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The Solution: </a:t>
            </a:r>
            <a:r>
              <a:rPr sz="1900">
                <a:solidFill>
                  <a:srgbClr val="000000"/>
                </a:solidFill>
                <a:latin typeface="Times New Roman"/>
              </a:rPr>
              <a:t>ShieldJob AI introduces an intelligent, automated safety check that cross-verifies job descriptions, company websites, and social presence in seconds.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Goal: </a:t>
            </a:r>
            <a:r>
              <a:rPr sz="1900">
                <a:solidFill>
                  <a:srgbClr val="000000"/>
                </a:solidFill>
                <a:latin typeface="Times New Roman"/>
              </a:rPr>
              <a:t>Empowering students and job seekers with a simple 1-click browser tool to verify job offers before sharing personal data or money.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Growing Scam Volume: </a:t>
            </a:r>
            <a:r>
              <a:rPr sz="1900">
                <a:solidFill>
                  <a:srgbClr val="000000"/>
                </a:solidFill>
                <a:latin typeface="Times New Roman"/>
              </a:rPr>
              <a:t>Thousands of fresh graduates fall victim each year to fake job offers on popular portals like LinkedIn, Indeed, and Naukri.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Upfront Fee Demands: </a:t>
            </a:r>
            <a:r>
              <a:rPr sz="1900">
                <a:solidFill>
                  <a:srgbClr val="000000"/>
                </a:solidFill>
                <a:latin typeface="Times New Roman"/>
              </a:rPr>
              <a:t>Scammers extort money through fake registration charges, onboarding kit fees, or security deposits.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Company Impersonation: </a:t>
            </a:r>
            <a:r>
              <a:rPr sz="1900">
                <a:solidFill>
                  <a:srgbClr val="000000"/>
                </a:solidFill>
                <a:latin typeface="Times New Roman"/>
              </a:rPr>
              <a:t>Fraudulent actors copy reputable company names and build look-alike websites (typosquatting) to deceive applicants.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Single-Layer Limitations: </a:t>
            </a:r>
            <a:r>
              <a:rPr sz="1900">
                <a:solidFill>
                  <a:srgbClr val="000000"/>
                </a:solidFill>
                <a:latin typeface="Times New Roman"/>
              </a:rPr>
              <a:t>Checking text alone misses fake company websites; checking websites alone misses fraudulent job descriptions.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Need for Real-Time Defense: </a:t>
            </a:r>
            <a:r>
              <a:rPr sz="1900">
                <a:solidFill>
                  <a:srgbClr val="000000"/>
                </a:solidFill>
                <a:latin typeface="Times New Roman"/>
              </a:rPr>
              <a:t>Job seekers need an easy, instant in-browser tool that provides clear **Safe**, **Suspicious**, or **Fake** verdicts on the spot.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ShieldJob AI Platform: </a:t>
            </a:r>
            <a:r>
              <a:rPr sz="1900">
                <a:solidFill>
                  <a:srgbClr val="000000"/>
                </a:solidFill>
                <a:latin typeface="Times New Roman"/>
              </a:rPr>
              <a:t>An end-to-end intelligent detection ecosystem designed to protect job seekers from recruitment scams in real time.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The 4 Safety Layers: </a:t>
            </a:r>
            <a:r>
              <a:rPr sz="1900">
                <a:solidFill>
                  <a:srgbClr val="000000"/>
                </a:solidFill>
                <a:latin typeface="Times New Roman"/>
              </a:rPr>
              <a:t>1. Pattern Matcher (30%): ML model trained on 17,880 job records.
2. AI Content Inspector (30%): Google Gemini AI spotting tone &amp; fee anomalies.
3. Website Authenticity (20%): Verifying company domain security &amp; official existence.
4. Company Reputation (20%): Checking LinkedIn presence &amp; public scam reports.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Dual User Interfaces: </a:t>
            </a:r>
            <a:r>
              <a:rPr sz="1900">
                <a:solidFill>
                  <a:srgbClr val="000000"/>
                </a:solidFill>
                <a:latin typeface="Times New Roman"/>
              </a:rPr>
              <a:t>A responsive Web Application for in-depth scans + a 1-Click Chrome Browser Extension for instant checks while browsing.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Unified Safety Score: </a:t>
            </a:r>
            <a:r>
              <a:rPr sz="1900">
                <a:solidFill>
                  <a:srgbClr val="000000"/>
                </a:solidFill>
                <a:latin typeface="Times New Roman"/>
              </a:rPr>
              <a:t>Combines all 4 layers into a single 0–100 score categorized as Legitimate (Safe), Suspicious, or Likely Fake.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Explainable Feedback: </a:t>
            </a:r>
            <a:r>
              <a:rPr sz="1900">
                <a:solidFill>
                  <a:srgbClr val="000000"/>
                </a:solidFill>
                <a:latin typeface="Times New Roman"/>
              </a:rPr>
              <a:t>Highlights exact red flags (e.g., suspicious payment demands, unverified domains, missing company history).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Step 1: Data Preparation: </a:t>
            </a:r>
            <a:r>
              <a:rPr sz="1900">
                <a:solidFill>
                  <a:srgbClr val="000000"/>
                </a:solidFill>
                <a:latin typeface="Times New Roman"/>
              </a:rPr>
              <a:t>Processed 17,880 job postings from the benchmark EMSCAD dataset using TF-IDF NLP feature extraction.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Step 2: ML Model Training: </a:t>
            </a:r>
            <a:r>
              <a:rPr sz="1900">
                <a:solidFill>
                  <a:srgbClr val="000000"/>
                </a:solidFill>
                <a:latin typeface="Times New Roman"/>
              </a:rPr>
              <a:t>Trained a balanced Random Forest Classifier to statistically identify scam language and fraudulent requirements.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Step 3: GenAI Content Audit: </a:t>
            </a:r>
            <a:r>
              <a:rPr sz="1900">
                <a:solidFill>
                  <a:srgbClr val="000000"/>
                </a:solidFill>
                <a:latin typeface="Times New Roman"/>
              </a:rPr>
              <a:t>Engineered Google Gemini AI prompts to evaluate salary realism, recruiter professionalism, and hidden fee requests.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Step 4: Live Web &amp; Social Verification: </a:t>
            </a:r>
            <a:r>
              <a:rPr sz="1900">
                <a:solidFill>
                  <a:srgbClr val="000000"/>
                </a:solidFill>
                <a:latin typeface="Times New Roman"/>
              </a:rPr>
              <a:t>Automated search queries via SerpAPI to cross-check company website credibility and LinkedIn presence.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Step 5: Weighted Score Aggregation: </a:t>
            </a:r>
            <a:r>
              <a:rPr sz="1900">
                <a:solidFill>
                  <a:srgbClr val="000000"/>
                </a:solidFill>
                <a:latin typeface="Times New Roman"/>
              </a:rPr>
              <a:t>Final Safety Score = (30% × ML) + (30% × Gemini AI) + (20% × Website) + (20% × Social).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1188720"/>
            <a:ext cx="5486400" cy="77724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USER INPUT: Job Posting &amp; Description</a:t>
            </a:r>
          </a:p>
          <a:p>
            <a:pPr algn="ctr">
              <a:defRPr sz="1300">
                <a:solidFill>
                  <a:srgbClr val="DCEBFF"/>
                </a:solidFill>
                <a:latin typeface="Times New Roman"/>
              </a:defRPr>
            </a:pPr>
            <a:r>
              <a:t>(Job Title, Company Name, Requirements, Contact Details)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514600" cy="196596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70C0"/>
                </a:solidFill>
                <a:latin typeface="Times New Roman"/>
              </a:defRPr>
            </a:pPr>
            <a:r>
              <a:t>ML Model (30%)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Random Forest Classifier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TF-IDF text analysis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Historical scam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286000"/>
            <a:ext cx="2514600" cy="196596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70C0"/>
                </a:solidFill>
                <a:latin typeface="Times New Roman"/>
              </a:defRPr>
            </a:pPr>
            <a:r>
              <a:t>Gemini AI (30%)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GenAI Content Auditor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Scam tone detection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Unrealistic salary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2514600" cy="196596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70C0"/>
                </a:solidFill>
                <a:latin typeface="Times New Roman"/>
              </a:defRPr>
            </a:pPr>
            <a:r>
              <a:t>Website Check (20%)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Domain credibility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SSL &amp; official site match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Typosquatting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286000"/>
            <a:ext cx="2514600" cy="196596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70C0"/>
                </a:solidFill>
                <a:latin typeface="Times New Roman"/>
              </a:defRPr>
            </a:pPr>
            <a:r>
              <a:t>Social Check (20%)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LinkedIn presence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Public employee footprint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Times New Roman"/>
              </a:defRPr>
            </a:pPr>
            <a:r>
              <a:t>• Scam alert databases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572000"/>
            <a:ext cx="8531352" cy="658368"/>
          </a:xfrm>
          <a:prstGeom prst="roundRect">
            <a:avLst/>
          </a:prstGeom>
          <a:solidFill>
            <a:srgbClr val="EEF4FC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2060"/>
                </a:solidFill>
                <a:latin typeface="Times New Roman"/>
              </a:defRPr>
            </a:pPr>
            <a:r>
              <a:t>Score Aggregation Engine: Weighted 4-Layer Risk Calculation (0–100%)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394960"/>
            <a:ext cx="8531352" cy="68580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FINAL PREDICTION:  ✅ Legitimate (Safe)   |   ⚠️ Suspicious   |   🚨 Likely Fake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SYSTEM STRUCTURE &amp;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084831" cy="448056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0070C0"/>
                </a:solidFill>
                <a:latin typeface="Times New Roman"/>
              </a:defRPr>
            </a:pPr>
            <a:r>
              <a:t>1. Browse Job Portal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LinkedIn, Naukri, Indeed, or Unstop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User views job offer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Copies text or opens popup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1325880"/>
            <a:ext cx="2084831" cy="448056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0070C0"/>
                </a:solidFill>
                <a:latin typeface="Times New Roman"/>
              </a:defRPr>
            </a:pPr>
            <a:r>
              <a:t>2. Chrome Extension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1-Click ShieldJob AI popup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Pastes description into popup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Clicks 'Analyze Job'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325880"/>
            <a:ext cx="2084831" cy="448056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0070C0"/>
                </a:solidFill>
                <a:latin typeface="Times New Roman"/>
              </a:defRPr>
            </a:pPr>
            <a:r>
              <a:t>3. Flask Cloud API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Sends request to Render backend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Secure payload processing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Zero API keys on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624" y="1325880"/>
            <a:ext cx="2084831" cy="448056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0070C0"/>
                </a:solidFill>
                <a:latin typeface="Times New Roman"/>
              </a:defRPr>
            </a:pPr>
            <a:r>
              <a:t>4. Multi-Layer Scan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Runs ML + Gemini AI in parallel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Checks domain &amp; LinkedIn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Computes risk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91472" y="1325880"/>
            <a:ext cx="2084831" cy="4480560"/>
          </a:xfrm>
          <a:prstGeom prst="roundRect">
            <a:avLst/>
          </a:prstGeom>
          <a:solidFill>
            <a:srgbClr val="F6F9FC"/>
          </a:solidFill>
          <a:ln w="1905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700" b="1">
                <a:solidFill>
                  <a:srgbClr val="0070C0"/>
                </a:solidFill>
                <a:latin typeface="Times New Roman"/>
              </a:defRPr>
            </a:pPr>
            <a:r>
              <a:t>5. Instant Verdict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Color-coded safety badge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Displays Risk Score %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  <a:latin typeface="Times New Roman"/>
              </a:defRPr>
            </a:pPr>
            <a:r>
              <a:t>• Lists detected red flags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IMPLEMENTATION &amp;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Backend Framework: </a:t>
            </a:r>
            <a:r>
              <a:rPr sz="1900">
                <a:solidFill>
                  <a:srgbClr val="000000"/>
                </a:solidFill>
                <a:latin typeface="Times New Roman"/>
              </a:rPr>
              <a:t>Python 3.11 with Flask REST API, Gunicorn WSGI server, and CORS handling.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Machine Learning: </a:t>
            </a:r>
            <a:r>
              <a:rPr sz="1900">
                <a:solidFill>
                  <a:srgbClr val="000000"/>
                </a:solidFill>
                <a:latin typeface="Times New Roman"/>
              </a:rPr>
              <a:t>Scikit-learn, Random Forest Classifier, TF-IDF Vectorizer, and Joblib for model serialization.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Generative AI: </a:t>
            </a:r>
            <a:r>
              <a:rPr sz="1900">
                <a:solidFill>
                  <a:srgbClr val="000000"/>
                </a:solidFill>
                <a:latin typeface="Times New Roman"/>
              </a:rPr>
              <a:t>Google Gemini API (`google-generativeai` SDK) for qualitative content and scam indicator auditing.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Live Web Search &amp; Scraping: </a:t>
            </a:r>
            <a:r>
              <a:rPr sz="1900">
                <a:solidFill>
                  <a:srgbClr val="000000"/>
                </a:solidFill>
                <a:latin typeface="Times New Roman"/>
              </a:rPr>
              <a:t>SerpAPI &amp; Google Custom Search for verifying official company domains and social footprints.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Frontend &amp; Extension: </a:t>
            </a:r>
            <a:r>
              <a:rPr sz="1900">
                <a:solidFill>
                  <a:srgbClr val="000000"/>
                </a:solidFill>
                <a:latin typeface="Times New Roman"/>
              </a:rPr>
              <a:t>Modern HTML5, Vanilla CSS3 (Custom Glassmorphism UI), JavaScript ES6, and Chrome Extension Manifest V3.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Cloud Deployment: </a:t>
            </a:r>
            <a:r>
              <a:rPr sz="1900">
                <a:solidFill>
                  <a:srgbClr val="000000"/>
                </a:solidFill>
                <a:latin typeface="Times New Roman"/>
              </a:rPr>
              <a:t>Hosted on Render with automated environment security and continuous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19456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70C0"/>
                </a:solidFill>
                <a:latin typeface="Times New Roman"/>
              </a:defRPr>
            </a:pPr>
            <a:r>
              <a:t>RESULTS: MODEL ACCURACY &amp;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Overall Accuracy (98.05%): </a:t>
            </a:r>
            <a:r>
              <a:rPr sz="1700">
                <a:solidFill>
                  <a:srgbClr val="000000"/>
                </a:solidFill>
                <a:latin typeface="Times New Roman"/>
              </a:rPr>
              <a:t>Tested across all 17,880 benchmark job postings.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Scam Catch Rate (81.29%): </a:t>
            </a:r>
            <a:r>
              <a:rPr sz="1700">
                <a:solidFill>
                  <a:srgbClr val="000000"/>
                </a:solidFill>
                <a:latin typeface="Times New Roman"/>
              </a:rPr>
              <a:t>Successfully detects over 81% of fraudulent job postings.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Precision (79.10%): </a:t>
            </a:r>
            <a:r>
              <a:rPr sz="1700">
                <a:solidFill>
                  <a:srgbClr val="000000"/>
                </a:solidFill>
                <a:latin typeface="Times New Roman"/>
              </a:rPr>
              <a:t>High reliability when flagging scams with minimal false alarms.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ROC-AUC Distinction (98.49%): </a:t>
            </a:r>
            <a:r>
              <a:rPr sz="1700">
                <a:solidFill>
                  <a:srgbClr val="000000"/>
                </a:solidFill>
                <a:latin typeface="Times New Roman"/>
              </a:rPr>
              <a:t>Strong separation power between genuine offers and scams.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5-Fold Cross-Validation: </a:t>
            </a:r>
            <a:r>
              <a:rPr sz="1700">
                <a:solidFill>
                  <a:srgbClr val="000000"/>
                </a:solidFill>
                <a:latin typeface="Times New Roman"/>
              </a:rPr>
              <a:t>Leak-free validation: 16,828 real jobs approved, 704 scams caught, only 186 false alarms.</a:t>
            </a:r>
          </a:p>
        </p:txBody>
      </p:sp>
      <p:pic>
        <p:nvPicPr>
          <p:cNvPr id="7" name="Picture 6" descr="metrics_pr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234440"/>
            <a:ext cx="5852160" cy="25965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19456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70C0"/>
                </a:solidFill>
                <a:latin typeface="Times New Roman"/>
              </a:defRPr>
            </a:pPr>
            <a:r>
              <a:t>RESULTS: LIVE APP &amp; EXTENSION IN ACTION</a:t>
            </a:r>
          </a:p>
        </p:txBody>
      </p:sp>
      <p:pic>
        <p:nvPicPr>
          <p:cNvPr id="6" name="Picture 5" descr="extension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5212080" cy="2364638"/>
          </a:xfrm>
          <a:prstGeom prst="rect">
            <a:avLst/>
          </a:prstGeom>
        </p:spPr>
      </p:pic>
      <p:pic>
        <p:nvPicPr>
          <p:cNvPr id="7" name="Picture 6" descr="web_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34440"/>
            <a:ext cx="5212080" cy="23646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32180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2060"/>
                </a:solidFill>
                <a:latin typeface="Times New Roman"/>
              </a:defRPr>
            </a:pPr>
            <a:r>
              <a:t>Chrome Extension Live Scan (Unstop Portal):</a:t>
            </a:r>
            <a:br/>
            <a:r>
              <a:t>Verified Cisco job offer as LEGITIMATE (Score: 75.8/100, ML Confidence: 91%)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532180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002060"/>
                </a:solidFill>
                <a:latin typeface="Times New Roman"/>
              </a:defRPr>
            </a:pPr>
            <a:r>
              <a:t>Scan History &amp; Dashboard Tracking:</a:t>
            </a:r>
            <a:br/>
            <a:r>
              <a:t>Real-time log of verified jobs with color-coded safety badges (Real / Suspicious / Fake)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CHALLENGES &amp; 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Class Imbalance: </a:t>
            </a:r>
            <a:r>
              <a:rPr sz="1900">
                <a:solidFill>
                  <a:srgbClr val="000000"/>
                </a:solidFill>
                <a:latin typeface="Times New Roman"/>
              </a:rPr>
              <a:t>Handled the low ratio of scam jobs (4.84%) using balanced class weights, stratified sampling, and ensemble techniques.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Unstructured Text Formats: </a:t>
            </a:r>
            <a:r>
              <a:rPr sz="1900">
                <a:solidFill>
                  <a:srgbClr val="000000"/>
                </a:solidFill>
                <a:latin typeface="Times New Roman"/>
              </a:rPr>
              <a:t>Standardized varied job postings and missing metadata fields using smart regex cleaning and NLP pipelines.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Cloud Cold-Starts &amp; Latency: </a:t>
            </a:r>
            <a:r>
              <a:rPr sz="1900">
                <a:solidFill>
                  <a:srgbClr val="000000"/>
                </a:solidFill>
                <a:latin typeface="Times New Roman"/>
              </a:rPr>
              <a:t>Optimized parallel API calls and implemented fallback scoring to maintain smooth response times on Render.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Key Learning Outcomes: </a:t>
            </a:r>
            <a:r>
              <a:rPr sz="1900">
                <a:solidFill>
                  <a:srgbClr val="000000"/>
                </a:solidFill>
                <a:latin typeface="Times New Roman"/>
              </a:rPr>
              <a:t>Gained practical mastery in training &amp; evaluating ML models, integrating Generative AI (LLMs), building Chrome Extensions (Manifest V3), and deploying full-stack web applications.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Project Summary: </a:t>
            </a:r>
            <a:r>
              <a:rPr sz="1900">
                <a:solidFill>
                  <a:srgbClr val="000000"/>
                </a:solidFill>
                <a:latin typeface="Times New Roman"/>
              </a:rPr>
              <a:t>ShieldJob AI provides a fast, reliable, and multi-layered defense system that protects job seekers from online employment fraud.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Usability &amp; Impact: </a:t>
            </a:r>
            <a:r>
              <a:rPr sz="1900">
                <a:solidFill>
                  <a:srgbClr val="000000"/>
                </a:solidFill>
                <a:latin typeface="Times New Roman"/>
              </a:rPr>
              <a:t>Combining a web dashboard with an in-browser Chrome Extension makes advanced AI protection accessible to any student with one click.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Future Scope: Auto-Detection: </a:t>
            </a:r>
            <a:r>
              <a:rPr sz="1900">
                <a:solidFill>
                  <a:srgbClr val="000000"/>
                </a:solidFill>
                <a:latin typeface="Times New Roman"/>
              </a:rPr>
              <a:t>Extracting job details directly from web pages (DOM scraping) for automatic safety badge overlays without copy-pasting.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Future Scope: Multilingual Support: </a:t>
            </a:r>
            <a:r>
              <a:rPr sz="1900">
                <a:solidFill>
                  <a:srgbClr val="000000"/>
                </a:solidFill>
                <a:latin typeface="Times New Roman"/>
              </a:rPr>
              <a:t>Extending NLP models to detect recruitment scams in regional and international languages.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Future Scope: Interview Scam Defense: </a:t>
            </a:r>
            <a:r>
              <a:rPr sz="1900">
                <a:solidFill>
                  <a:srgbClr val="000000"/>
                </a:solidFill>
                <a:latin typeface="Times New Roman"/>
              </a:rPr>
              <a:t>Adding AI analysis to verify video interview links and detect deepfake recruiter calls.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74320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184" y="632764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808080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219456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0C0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Scikit-learn Documentation: </a:t>
            </a:r>
            <a:r>
              <a:rPr sz="1900">
                <a:solidFill>
                  <a:srgbClr val="000000"/>
                </a:solidFill>
                <a:latin typeface="Times New Roman"/>
              </a:rPr>
              <a:t>Pedregosa et al., 'Scikit-learn: Machine Learning in Python', Random Forest Classifier &amp; TF-IDF Vectorization (scikit-learn.org).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Google Generative AI: </a:t>
            </a:r>
            <a:r>
              <a:rPr sz="1900">
                <a:solidFill>
                  <a:srgbClr val="000000"/>
                </a:solidFill>
                <a:latin typeface="Times New Roman"/>
              </a:rPr>
              <a:t>Google DeepMind, 'Gemini API &amp; Generative AI Python SDK Documentation' (ai.google.dev).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Chrome Extension Architecture: </a:t>
            </a:r>
            <a:r>
              <a:rPr sz="1900">
                <a:solidFill>
                  <a:srgbClr val="000000"/>
                </a:solidFill>
                <a:latin typeface="Times New Roman"/>
              </a:rPr>
              <a:t>Google Chrome Developers, 'Manifest V3 Architecture &amp; Extension Security' (developer.chrome.com).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Recruitment Scam Research: </a:t>
            </a:r>
            <a:r>
              <a:rPr sz="1900">
                <a:solidFill>
                  <a:srgbClr val="000000"/>
                </a:solidFill>
                <a:latin typeface="Times New Roman"/>
              </a:rPr>
              <a:t>Federal Trade Commission (FTC), 'Job Scams and Identity Theft Consumer Threat Reports'.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Benchmark Dataset: </a:t>
            </a:r>
            <a:r>
              <a:rPr sz="1900">
                <a:solidFill>
                  <a:srgbClr val="000000"/>
                </a:solidFill>
                <a:latin typeface="Times New Roman"/>
              </a:rPr>
              <a:t>Employment Scam Aegean Dataset (EMSCAD) / Kaggle Fake Job Postings Dataset Repository.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Pictur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3474720" cy="8046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201168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6400" b="1">
                <a:solidFill>
                  <a:srgbClr val="0070C0"/>
                </a:solidFill>
                <a:latin typeface="Times New Roman"/>
              </a:defRPr>
            </a:pPr>
            <a:r>
              <a:t>THANK YOU</a:t>
            </a:r>
          </a:p>
          <a:p>
            <a:pPr algn="ctr">
              <a:spcAft>
                <a:spcPts val="1400"/>
              </a:spcAft>
              <a:defRPr sz="2600" b="1">
                <a:solidFill>
                  <a:srgbClr val="002060"/>
                </a:solidFill>
                <a:latin typeface="Times New Roman"/>
              </a:defRPr>
            </a:pPr>
            <a:r>
              <a:t>Any Questions &amp; Feedback?</a:t>
            </a:r>
          </a:p>
          <a:p>
            <a:pPr algn="ctr">
              <a:defRPr sz="2000">
                <a:solidFill>
                  <a:srgbClr val="3C3C3C"/>
                </a:solidFill>
                <a:latin typeface="Times New Roman"/>
              </a:defRPr>
            </a:pPr>
            <a:r>
              <a:t>Tanuku Ram Sai  (PIN: 24A95A0503)</a:t>
            </a:r>
            <a:br/>
            <a:r>
              <a:t>Department of Computer Science &amp; Engineering</a:t>
            </a:r>
            <a:br/>
            <a:r>
              <a:t>Aditya University, Surampalem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32764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08080"/>
                </a:solidFill>
                <a:latin typeface="Times New Roman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