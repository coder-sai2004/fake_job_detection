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1_0_Picture 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5264" y="182880"/>
            <a:ext cx="5687568" cy="130759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645920"/>
            <a:ext cx="10725912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  <a:defRPr sz="2600" b="1">
                <a:solidFill>
                  <a:srgbClr val="002060"/>
                </a:solidFill>
                <a:latin typeface="Times New Roman"/>
              </a:defRPr>
            </a:pPr>
            <a:r>
              <a:t>SHIELDJOB AI – MULTI-MODAL FAKE JOB DETECTION SYSTEM</a:t>
            </a:r>
          </a:p>
          <a:p>
            <a:pPr algn="ctr">
              <a:defRPr sz="1600" i="1">
                <a:solidFill>
                  <a:srgbClr val="1F4E79"/>
                </a:solidFill>
                <a:latin typeface="Times New Roman"/>
              </a:defRPr>
            </a:pPr>
            <a:r>
              <a:t>An AI/ML-Powered Verification Platform for Automated Recruitment Scam Detection &amp; Trust Scoring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9445752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400"/>
              </a:spcAft>
              <a:defRPr sz="1700" b="1">
                <a:solidFill>
                  <a:srgbClr val="002060"/>
                </a:solidFill>
                <a:latin typeface="Times New Roman"/>
              </a:defRPr>
            </a:pPr>
            <a:r>
              <a:t>Presented By</a:t>
            </a:r>
          </a:p>
          <a:p>
            <a:pPr algn="ctr">
              <a:spcAft>
                <a:spcPts val="800"/>
              </a:spcAft>
              <a:defRPr sz="1900" b="1">
                <a:solidFill>
                  <a:srgbClr val="141414"/>
                </a:solidFill>
                <a:latin typeface="Times New Roman"/>
              </a:defRPr>
            </a:pPr>
            <a:r>
              <a:t>Tanuku Ram Sai  (PIN: 24A95A0503)</a:t>
            </a:r>
          </a:p>
          <a:p>
            <a:pPr algn="ctr">
              <a:spcAft>
                <a:spcPts val="200"/>
              </a:spcAft>
              <a:defRPr sz="1600" b="0">
                <a:solidFill>
                  <a:srgbClr val="141414"/>
                </a:solidFill>
                <a:latin typeface="Times New Roman"/>
              </a:defRPr>
            </a:pPr>
            <a:r>
              <a:t>Department of Computer Science &amp; Engineering</a:t>
            </a:r>
          </a:p>
          <a:p>
            <a:pPr algn="ctr">
              <a:spcAft>
                <a:spcPts val="1400"/>
              </a:spcAft>
              <a:defRPr sz="1600" b="0">
                <a:solidFill>
                  <a:srgbClr val="141414"/>
                </a:solidFill>
                <a:latin typeface="Times New Roman"/>
              </a:defRPr>
            </a:pPr>
            <a:r>
              <a:t>Aditya University, Surampalem</a:t>
            </a:r>
          </a:p>
          <a:p>
            <a:pPr algn="ctr">
              <a:spcAft>
                <a:spcPts val="200"/>
              </a:spcAft>
              <a:defRPr sz="1500" b="1">
                <a:solidFill>
                  <a:srgbClr val="002060"/>
                </a:solidFill>
                <a:latin typeface="Times New Roman"/>
              </a:defRPr>
            </a:pPr>
            <a:r>
              <a:t>Internship Organization: VedXlence Innovations Pvt. Ltd., Hyderabad</a:t>
            </a:r>
          </a:p>
          <a:p>
            <a:pPr algn="ctr">
              <a:spcAft>
                <a:spcPts val="200"/>
              </a:spcAft>
              <a:defRPr sz="1400" b="0">
                <a:solidFill>
                  <a:srgbClr val="141414"/>
                </a:solidFill>
                <a:latin typeface="Times New Roman"/>
              </a:defRPr>
            </a:pPr>
            <a:r>
              <a:t>Program: AICTE Certified Internship &amp; Upskilling Program | Domain: Machine Learning with Python</a:t>
            </a:r>
          </a:p>
          <a:p>
            <a:pPr algn="ctr">
              <a:spcAft>
                <a:spcPts val="0"/>
              </a:spcAft>
              <a:defRPr sz="1400" b="0">
                <a:solidFill>
                  <a:srgbClr val="141414"/>
                </a:solidFill>
                <a:latin typeface="Times New Roman"/>
              </a:defRPr>
            </a:pPr>
            <a:r>
              <a:t>Internship Duration: May 6, 2026 – July 5, 2026 (Offline Mode)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1_0_Picture 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310896"/>
            <a:ext cx="2816352" cy="6492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017520" y="256032"/>
            <a:ext cx="86868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02060"/>
                </a:solidFill>
                <a:latin typeface="Times New Roman"/>
              </a:defRPr>
            </a:pPr>
            <a:r>
              <a:t>INTERNSHIP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" y="626364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7F7F7F"/>
                </a:solidFill>
                <a:latin typeface="Times New Roman"/>
              </a:defRPr>
            </a:pPr>
            <a:r>
              <a:t>ShieldJob AI: Multi-Modal Fake Job Detection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26364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>
                <a:solidFill>
                  <a:srgbClr val="7F7F7F"/>
                </a:solidFill>
                <a:latin typeface="Times New Roman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10607040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1800" b="1">
                <a:solidFill>
                  <a:srgbClr val="002060"/>
                </a:solidFill>
                <a:latin typeface="Times New Roman"/>
              </a:rPr>
              <a:t>•  Host Organization: </a:t>
            </a:r>
            <a:r>
              <a:rPr sz="1800" b="0">
                <a:solidFill>
                  <a:srgbClr val="141414"/>
                </a:solidFill>
                <a:latin typeface="Times New Roman"/>
              </a:rPr>
              <a:t>VedXlence Innovations Pvt. Ltd., Hyderabad, Telangana, India.</a:t>
            </a:r>
          </a:p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1800" b="1">
                <a:solidFill>
                  <a:srgbClr val="002060"/>
                </a:solidFill>
                <a:latin typeface="Times New Roman"/>
              </a:rPr>
              <a:t>•  Internship Domain: </a:t>
            </a:r>
            <a:r>
              <a:rPr sz="1800" b="0">
                <a:solidFill>
                  <a:srgbClr val="141414"/>
                </a:solidFill>
                <a:latin typeface="Times New Roman"/>
              </a:rPr>
              <a:t>Machine Learning with Python and Natural Language Processing.</a:t>
            </a:r>
          </a:p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1800" b="1">
                <a:solidFill>
                  <a:srgbClr val="002060"/>
                </a:solidFill>
                <a:latin typeface="Times New Roman"/>
              </a:rPr>
              <a:t>•  Program Nature: </a:t>
            </a:r>
            <a:r>
              <a:rPr sz="1800" b="0">
                <a:solidFill>
                  <a:srgbClr val="141414"/>
                </a:solidFill>
                <a:latin typeface="Times New Roman"/>
              </a:rPr>
              <a:t>AICTE Certified Internship &amp; Upskilling Program.</a:t>
            </a:r>
          </a:p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1800" b="1">
                <a:solidFill>
                  <a:srgbClr val="002060"/>
                </a:solidFill>
                <a:latin typeface="Times New Roman"/>
              </a:rPr>
              <a:t>•  Duration &amp; Timeline: </a:t>
            </a:r>
            <a:r>
              <a:rPr sz="1800" b="0">
                <a:solidFill>
                  <a:srgbClr val="141414"/>
                </a:solidFill>
                <a:latin typeface="Times New Roman"/>
              </a:rPr>
              <a:t>2 Months intensive program, from May 6, 2026 to July 5, 2026.</a:t>
            </a:r>
          </a:p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1800" b="1">
                <a:solidFill>
                  <a:srgbClr val="002060"/>
                </a:solidFill>
                <a:latin typeface="Times New Roman"/>
              </a:rPr>
              <a:t>•  Internship Mode: </a:t>
            </a:r>
            <a:r>
              <a:rPr sz="1800" b="0">
                <a:solidFill>
                  <a:srgbClr val="141414"/>
                </a:solidFill>
                <a:latin typeface="Times New Roman"/>
              </a:rPr>
              <a:t>Offline training and project implementation mode.</a:t>
            </a:r>
          </a:p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1800" b="1">
                <a:solidFill>
                  <a:srgbClr val="002060"/>
                </a:solidFill>
                <a:latin typeface="Times New Roman"/>
              </a:rPr>
              <a:t>•  Official Portal: </a:t>
            </a:r>
            <a:r>
              <a:rPr sz="1800" b="0">
                <a:solidFill>
                  <a:srgbClr val="141414"/>
                </a:solidFill>
                <a:latin typeface="Times New Roman"/>
              </a:rPr>
              <a:t>https://www.vedxlence.in/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1_0_Picture 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310896"/>
            <a:ext cx="2816352" cy="6492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017520" y="256032"/>
            <a:ext cx="86868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02060"/>
                </a:solidFill>
                <a:latin typeface="Times New Roman"/>
              </a:defRPr>
            </a:pPr>
            <a:r>
              <a:t>ORGANIZATION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" y="626364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7F7F7F"/>
                </a:solidFill>
                <a:latin typeface="Times New Roman"/>
              </a:defRPr>
            </a:pPr>
            <a:r>
              <a:t>ShieldJob AI: Multi-Modal Fake Job Detection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26364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>
                <a:solidFill>
                  <a:srgbClr val="7F7F7F"/>
                </a:solidFill>
                <a:latin typeface="Times New Roman"/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10607040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1800" b="1">
                <a:solidFill>
                  <a:srgbClr val="002060"/>
                </a:solidFill>
                <a:latin typeface="Times New Roman"/>
              </a:rPr>
              <a:t>•  Organization Background: </a:t>
            </a:r>
            <a:r>
              <a:rPr sz="1800" b="0">
                <a:solidFill>
                  <a:srgbClr val="141414"/>
                </a:solidFill>
                <a:latin typeface="Times New Roman"/>
              </a:rPr>
              <a:t>VedXlence Innovations Pvt. Ltd. is an emerging technology enterprise headquartered in Hyderabad, Telangana.</a:t>
            </a:r>
          </a:p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1800" b="1">
                <a:solidFill>
                  <a:srgbClr val="002060"/>
                </a:solidFill>
                <a:latin typeface="Times New Roman"/>
              </a:rPr>
              <a:t>•  AICTE-Certified Program: </a:t>
            </a:r>
            <a:r>
              <a:rPr sz="1800" b="0">
                <a:solidFill>
                  <a:srgbClr val="141414"/>
                </a:solidFill>
                <a:latin typeface="Times New Roman"/>
              </a:rPr>
              <a:t>Conducted an AICTE-certified internship and upskilling program tailored to build high-demand industry skills.</a:t>
            </a:r>
          </a:p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1800" b="1">
                <a:solidFill>
                  <a:srgbClr val="002060"/>
                </a:solidFill>
                <a:latin typeface="Times New Roman"/>
              </a:rPr>
              <a:t>•  Technical Training: </a:t>
            </a:r>
            <a:r>
              <a:rPr sz="1800" b="0">
                <a:solidFill>
                  <a:srgbClr val="141414"/>
                </a:solidFill>
                <a:latin typeface="Times New Roman"/>
              </a:rPr>
              <a:t>Provided structured training covering core Python, machine learning workflows, NLP text analysis, and API design.</a:t>
            </a:r>
          </a:p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1800" b="1">
                <a:solidFill>
                  <a:srgbClr val="002060"/>
                </a:solidFill>
                <a:latin typeface="Times New Roman"/>
              </a:rPr>
              <a:t>•  Real-World Project Execution: </a:t>
            </a:r>
            <a:r>
              <a:rPr sz="1800" b="0">
                <a:solidFill>
                  <a:srgbClr val="141414"/>
                </a:solidFill>
                <a:latin typeface="Times New Roman"/>
              </a:rPr>
              <a:t>Emphasized end-to-end practical project development, bridging academic knowledge with production requirements.</a:t>
            </a:r>
          </a:p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1800" b="1">
                <a:solidFill>
                  <a:srgbClr val="002060"/>
                </a:solidFill>
                <a:latin typeface="Times New Roman"/>
              </a:rPr>
              <a:t>•  Professional Growth: </a:t>
            </a:r>
            <a:r>
              <a:rPr sz="1800" b="0">
                <a:solidFill>
                  <a:srgbClr val="141414"/>
                </a:solidFill>
                <a:latin typeface="Times New Roman"/>
              </a:rPr>
              <a:t>Instilled best practices in software development, collaborative version control, testing, and cloud deployment.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1_0_Picture 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310896"/>
            <a:ext cx="2816352" cy="6492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017520" y="256032"/>
            <a:ext cx="86868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02060"/>
                </a:solidFill>
                <a:latin typeface="Times New Roman"/>
              </a:defRPr>
            </a:pPr>
            <a:r>
              <a:t>INTERNSHIP WORK &amp; RESPONSIBILITIES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" y="626364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7F7F7F"/>
                </a:solidFill>
                <a:latin typeface="Times New Roman"/>
              </a:defRPr>
            </a:pPr>
            <a:r>
              <a:t>ShieldJob AI: Multi-Modal Fake Job Detection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26364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>
                <a:solidFill>
                  <a:srgbClr val="7F7F7F"/>
                </a:solidFill>
                <a:latin typeface="Times New Roman"/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10607040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700" b="1">
                <a:solidFill>
                  <a:srgbClr val="002060"/>
                </a:solidFill>
                <a:latin typeface="Times New Roman"/>
              </a:rPr>
              <a:t>•  Data Preprocessing &amp; EDA: </a:t>
            </a:r>
            <a:r>
              <a:rPr sz="1700" b="0">
                <a:solidFill>
                  <a:srgbClr val="141414"/>
                </a:solidFill>
                <a:latin typeface="Times New Roman"/>
              </a:rPr>
              <a:t>Cleaned, structured, and analyzed 17,880 job records from the benchmark EMSCAD dataset.</a:t>
            </a:r>
          </a:p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700" b="1">
                <a:solidFill>
                  <a:srgbClr val="002060"/>
                </a:solidFill>
                <a:latin typeface="Times New Roman"/>
              </a:rPr>
              <a:t>•  NLP &amp; Feature Extraction: </a:t>
            </a:r>
            <a:r>
              <a:rPr sz="1700" b="0">
                <a:solidFill>
                  <a:srgbClr val="141414"/>
                </a:solidFill>
                <a:latin typeface="Times New Roman"/>
              </a:rPr>
              <a:t>Applied TF-IDF vectorization to convert raw job texts and requirements into numerical feature matrices.</a:t>
            </a:r>
          </a:p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700" b="1">
                <a:solidFill>
                  <a:srgbClr val="002060"/>
                </a:solidFill>
                <a:latin typeface="Times New Roman"/>
              </a:rPr>
              <a:t>•  ML Model Development: </a:t>
            </a:r>
            <a:r>
              <a:rPr sz="1700" b="0">
                <a:solidFill>
                  <a:srgbClr val="141414"/>
                </a:solidFill>
                <a:latin typeface="Times New Roman"/>
              </a:rPr>
              <a:t>Trained and tuned a Balanced Random Forest Classifier to handle severe real-world class imbalance.</a:t>
            </a:r>
          </a:p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700" b="1">
                <a:solidFill>
                  <a:srgbClr val="002060"/>
                </a:solidFill>
                <a:latin typeface="Times New Roman"/>
              </a:rPr>
              <a:t>•  Generative AI Integration: </a:t>
            </a:r>
            <a:r>
              <a:rPr sz="1700" b="0">
                <a:solidFill>
                  <a:srgbClr val="141414"/>
                </a:solidFill>
                <a:latin typeface="Times New Roman"/>
              </a:rPr>
              <a:t>Integrated Google Gemini 2.5 Flash API with specialized prompt engineering for semantic red-flag detection.</a:t>
            </a:r>
          </a:p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700" b="1">
                <a:solidFill>
                  <a:srgbClr val="002060"/>
                </a:solidFill>
                <a:latin typeface="Times New Roman"/>
              </a:rPr>
              <a:t>•  Multi-Modal Verification: </a:t>
            </a:r>
            <a:r>
              <a:rPr sz="1700" b="0">
                <a:solidFill>
                  <a:srgbClr val="141414"/>
                </a:solidFill>
                <a:latin typeface="Times New Roman"/>
              </a:rPr>
              <a:t>Implemented automated company website health checks and public social-footprint verification using BeautifulSoup.</a:t>
            </a:r>
          </a:p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700" b="1">
                <a:solidFill>
                  <a:srgbClr val="002060"/>
                </a:solidFill>
                <a:latin typeface="Times New Roman"/>
              </a:rPr>
              <a:t>•  Application &amp; Deployment: </a:t>
            </a:r>
            <a:r>
              <a:rPr sz="1700" b="0">
                <a:solidFill>
                  <a:srgbClr val="141414"/>
                </a:solidFill>
                <a:latin typeface="Times New Roman"/>
              </a:rPr>
              <a:t>Engineered a Flask web application, Chrome Extension (Manifest V3), and deployed the live system on Render.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1_0_Picture 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310896"/>
            <a:ext cx="2816352" cy="6492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017520" y="256032"/>
            <a:ext cx="86868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02060"/>
                </a:solidFill>
                <a:latin typeface="Times New Roman"/>
              </a:defRPr>
            </a:pPr>
            <a:r>
              <a:t>SKILLS &amp; TECHNOLOGIES LEARNED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" y="626364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7F7F7F"/>
                </a:solidFill>
                <a:latin typeface="Times New Roman"/>
              </a:defRPr>
            </a:pPr>
            <a:r>
              <a:t>ShieldJob AI: Multi-Modal Fake Job Detection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26364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>
                <a:solidFill>
                  <a:srgbClr val="7F7F7F"/>
                </a:solidFill>
                <a:latin typeface="Times New Roman"/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10607040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700" b="1">
                <a:solidFill>
                  <a:srgbClr val="002060"/>
                </a:solidFill>
                <a:latin typeface="Times New Roman"/>
              </a:rPr>
              <a:t>•  Backend Development: </a:t>
            </a:r>
            <a:r>
              <a:rPr sz="1700" b="0">
                <a:solidFill>
                  <a:srgbClr val="141414"/>
                </a:solidFill>
                <a:latin typeface="Times New Roman"/>
              </a:rPr>
              <a:t>Python 3, Flask Web Framework, Gunicorn WSGI Server, RESTful API architecture.</a:t>
            </a:r>
          </a:p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700" b="1">
                <a:solidFill>
                  <a:srgbClr val="002060"/>
                </a:solidFill>
                <a:latin typeface="Times New Roman"/>
              </a:rPr>
              <a:t>•  Machine Learning &amp; NLP: </a:t>
            </a:r>
            <a:r>
              <a:rPr sz="1700" b="0">
                <a:solidFill>
                  <a:srgbClr val="141414"/>
                </a:solidFill>
                <a:latin typeface="Times New Roman"/>
              </a:rPr>
              <a:t>Scikit-learn, Balanced Random Forest, TF-IDF Vectorization, Performance Evaluation Metrics.</a:t>
            </a:r>
          </a:p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700" b="1">
                <a:solidFill>
                  <a:srgbClr val="002060"/>
                </a:solidFill>
                <a:latin typeface="Times New Roman"/>
              </a:rPr>
              <a:t>•  Generative AI &amp; LLMs: </a:t>
            </a:r>
            <a:r>
              <a:rPr sz="1700" b="0">
                <a:solidFill>
                  <a:srgbClr val="141414"/>
                </a:solidFill>
                <a:latin typeface="Times New Roman"/>
              </a:rPr>
              <a:t>Google Gemini 2.5 Flash API, prompt engineering, structured JSON response extraction.</a:t>
            </a:r>
          </a:p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700" b="1">
                <a:solidFill>
                  <a:srgbClr val="002060"/>
                </a:solidFill>
                <a:latin typeface="Times New Roman"/>
              </a:rPr>
              <a:t>•  Web Scraping &amp; APIs: </a:t>
            </a:r>
            <a:r>
              <a:rPr sz="1700" b="0">
                <a:solidFill>
                  <a:srgbClr val="141414"/>
                </a:solidFill>
                <a:latin typeface="Times New Roman"/>
              </a:rPr>
              <a:t>BeautifulSoup4, Requests library, automated HTTP response verification, search APIs.</a:t>
            </a:r>
          </a:p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700" b="1">
                <a:solidFill>
                  <a:srgbClr val="002060"/>
                </a:solidFill>
                <a:latin typeface="Times New Roman"/>
              </a:rPr>
              <a:t>•  Frontend &amp; Browser Extension: </a:t>
            </a:r>
            <a:r>
              <a:rPr sz="1700" b="0">
                <a:solidFill>
                  <a:srgbClr val="141414"/>
                </a:solidFill>
                <a:latin typeface="Times New Roman"/>
              </a:rPr>
              <a:t>HTML5, Vanilla CSS3, JavaScript (ES6+), Chrome Extension Manifest V3.</a:t>
            </a:r>
          </a:p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700" b="1">
                <a:solidFill>
                  <a:srgbClr val="002060"/>
                </a:solidFill>
                <a:latin typeface="Times New Roman"/>
              </a:rPr>
              <a:t>•  DevOps &amp; Version Control: </a:t>
            </a:r>
            <a:r>
              <a:rPr sz="1700" b="0">
                <a:solidFill>
                  <a:srgbClr val="141414"/>
                </a:solidFill>
                <a:latin typeface="Times New Roman"/>
              </a:rPr>
              <a:t>Git version control, GitHub collaboration, Render cloud deployment.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1_0_Picture 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310896"/>
            <a:ext cx="2816352" cy="6492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017520" y="256032"/>
            <a:ext cx="86868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02060"/>
                </a:solidFill>
                <a:latin typeface="Times New Roman"/>
              </a:defRPr>
            </a:pPr>
            <a:r>
              <a:t>PROJECT INTRODUCTION: SHIELDJOB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" y="626364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7F7F7F"/>
                </a:solidFill>
                <a:latin typeface="Times New Roman"/>
              </a:defRPr>
            </a:pPr>
            <a:r>
              <a:t>ShieldJob AI: Multi-Modal Fake Job Detection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26364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>
                <a:solidFill>
                  <a:srgbClr val="7F7F7F"/>
                </a:solidFill>
                <a:latin typeface="Times New Roman"/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10607040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1800" b="1">
                <a:solidFill>
                  <a:srgbClr val="002060"/>
                </a:solidFill>
                <a:latin typeface="Times New Roman"/>
              </a:rPr>
              <a:t>•  The Problem: </a:t>
            </a:r>
            <a:r>
              <a:rPr sz="1800" b="0">
                <a:solidFill>
                  <a:srgbClr val="141414"/>
                </a:solidFill>
                <a:latin typeface="Times New Roman"/>
              </a:rPr>
              <a:t>A massive surge in online recruitment scams, phishing traps, and fraudulent job postings targeting vulnerable job seekers.</a:t>
            </a:r>
          </a:p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1800" b="1">
                <a:solidFill>
                  <a:srgbClr val="002060"/>
                </a:solidFill>
                <a:latin typeface="Times New Roman"/>
              </a:rPr>
              <a:t>•  Project Objective: </a:t>
            </a:r>
            <a:r>
              <a:rPr sz="1800" b="0">
                <a:solidFill>
                  <a:srgbClr val="141414"/>
                </a:solidFill>
                <a:latin typeface="Times New Roman"/>
              </a:rPr>
              <a:t>To automatically evaluate and classify job postings as legitimate, suspicious, or potentially fraudulent with high precision.</a:t>
            </a:r>
          </a:p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1800" b="1">
                <a:solidFill>
                  <a:srgbClr val="002060"/>
                </a:solidFill>
                <a:latin typeface="Times New Roman"/>
              </a:rPr>
              <a:t>•  Multi-Modal Approach: </a:t>
            </a:r>
            <a:r>
              <a:rPr sz="1800" b="0">
                <a:solidFill>
                  <a:srgbClr val="141414"/>
                </a:solidFill>
                <a:latin typeface="Times New Roman"/>
              </a:rPr>
              <a:t>Overcomes the vulnerabilities of text-only filters by combining Machine Learning, Generative AI, website status, and public footprint analysis.</a:t>
            </a:r>
          </a:p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1800" b="1">
                <a:solidFill>
                  <a:srgbClr val="002060"/>
                </a:solidFill>
                <a:latin typeface="Times New Roman"/>
              </a:rPr>
              <a:t>•  Trust Rating System: </a:t>
            </a:r>
            <a:r>
              <a:rPr sz="1800" b="0">
                <a:solidFill>
                  <a:srgbClr val="141414"/>
                </a:solidFill>
                <a:latin typeface="Times New Roman"/>
              </a:rPr>
              <a:t>Aggregates multi-source evidence into an explainable 0–100 Safety Score with highlighted red flags.</a:t>
            </a:r>
          </a:p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1800" b="1">
                <a:solidFill>
                  <a:srgbClr val="002060"/>
                </a:solidFill>
                <a:latin typeface="Times New Roman"/>
              </a:rPr>
              <a:t>•  Dual Platform Access: </a:t>
            </a:r>
            <a:r>
              <a:rPr sz="1800" b="0">
                <a:solidFill>
                  <a:srgbClr val="141414"/>
                </a:solidFill>
                <a:latin typeface="Times New Roman"/>
              </a:rPr>
              <a:t>Delivered as an interactive Flask Web Portal and an on-the-go Chrome Extension for real-time protection on job boards.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1_0_Picture 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310896"/>
            <a:ext cx="2816352" cy="6492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017520" y="256032"/>
            <a:ext cx="86868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02060"/>
                </a:solidFill>
                <a:latin typeface="Times New Roman"/>
              </a:defRPr>
            </a:pPr>
            <a:r>
              <a:t>PROJECT WORKFLOW &amp;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" y="626364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7F7F7F"/>
                </a:solidFill>
                <a:latin typeface="Times New Roman"/>
              </a:defRPr>
            </a:pPr>
            <a:r>
              <a:t>ShieldJob AI: Multi-Modal Fake Job Detection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26364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>
                <a:solidFill>
                  <a:srgbClr val="7F7F7F"/>
                </a:solidFill>
                <a:latin typeface="Times New Roman"/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10607040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700" b="1">
                <a:solidFill>
                  <a:srgbClr val="002060"/>
                </a:solidFill>
                <a:latin typeface="Times New Roman"/>
              </a:rPr>
              <a:t>•  Step 1 – Input Ingestion: </a:t>
            </a:r>
            <a:r>
              <a:rPr sz="1700" b="0">
                <a:solidFill>
                  <a:srgbClr val="141414"/>
                </a:solidFill>
                <a:latin typeface="Times New Roman"/>
              </a:rPr>
              <a:t>User submits job details via Web Form or auto-captures text from job boards via Chrome Extension.</a:t>
            </a:r>
          </a:p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700" b="1">
                <a:solidFill>
                  <a:srgbClr val="002060"/>
                </a:solidFill>
                <a:latin typeface="Times New Roman"/>
              </a:rPr>
              <a:t>•  Step 2 – Machine Learning Analysis (30%): </a:t>
            </a:r>
            <a:r>
              <a:rPr sz="1700" b="0">
                <a:solidFill>
                  <a:srgbClr val="141414"/>
                </a:solidFill>
                <a:latin typeface="Times New Roman"/>
              </a:rPr>
              <a:t>Balanced Random Forest model evaluates text patterns and structural features for fraud signals.</a:t>
            </a:r>
          </a:p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700" b="1">
                <a:solidFill>
                  <a:srgbClr val="002060"/>
                </a:solidFill>
                <a:latin typeface="Times New Roman"/>
              </a:rPr>
              <a:t>•  Step 3 – Gemini AI Contextual Check (30%): </a:t>
            </a:r>
            <a:r>
              <a:rPr sz="1700" b="0">
                <a:solidFill>
                  <a:srgbClr val="141414"/>
                </a:solidFill>
                <a:latin typeface="Times New Roman"/>
              </a:rPr>
              <a:t>LLM analyzes subtle contextual red flags, unrealistic compensations, and suspicious contact methods.</a:t>
            </a:r>
          </a:p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700" b="1">
                <a:solidFill>
                  <a:srgbClr val="002060"/>
                </a:solidFill>
                <a:latin typeface="Times New Roman"/>
              </a:rPr>
              <a:t>•  Step 4 – Company Website Verification (20%): </a:t>
            </a:r>
            <a:r>
              <a:rPr sz="1700" b="0">
                <a:solidFill>
                  <a:srgbClr val="141414"/>
                </a:solidFill>
                <a:latin typeface="Times New Roman"/>
              </a:rPr>
              <a:t>Automated validation of official corporate domain status, HTTPS availability, and site responsiveness.</a:t>
            </a:r>
          </a:p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700" b="1">
                <a:solidFill>
                  <a:srgbClr val="002060"/>
                </a:solidFill>
                <a:latin typeface="Times New Roman"/>
              </a:rPr>
              <a:t>•  Step 5 – Social &amp; Public Footprint (20%): </a:t>
            </a:r>
            <a:r>
              <a:rPr sz="1700" b="0">
                <a:solidFill>
                  <a:srgbClr val="141414"/>
                </a:solidFill>
                <a:latin typeface="Times New Roman"/>
              </a:rPr>
              <a:t>Verifies corporate identity, digital footprint, and search credibility across public web directories.</a:t>
            </a:r>
          </a:p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700" b="1">
                <a:solidFill>
                  <a:srgbClr val="002060"/>
                </a:solidFill>
                <a:latin typeface="Times New Roman"/>
              </a:rPr>
              <a:t>•  Step 6 – Safety Score &amp; Verdict: </a:t>
            </a:r>
            <a:r>
              <a:rPr sz="1700" b="0">
                <a:solidFill>
                  <a:srgbClr val="141414"/>
                </a:solidFill>
                <a:latin typeface="Times New Roman"/>
              </a:rPr>
              <a:t>Calculates composite 0–100 Safety Score and outputs verdict with human-readable explanation.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1_0_Picture 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310896"/>
            <a:ext cx="2816352" cy="6492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017520" y="256032"/>
            <a:ext cx="86868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02060"/>
                </a:solidFill>
                <a:latin typeface="Times New Roman"/>
              </a:defRPr>
            </a:pPr>
            <a:r>
              <a:t>KEY PROJECT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" y="626364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7F7F7F"/>
                </a:solidFill>
                <a:latin typeface="Times New Roman"/>
              </a:defRPr>
            </a:pPr>
            <a:r>
              <a:t>ShieldJob AI: Multi-Modal Fake Job Detection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26364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>
                <a:solidFill>
                  <a:srgbClr val="7F7F7F"/>
                </a:solidFill>
                <a:latin typeface="Times New Roman"/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10607040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1300"/>
              </a:spcAft>
            </a:pPr>
            <a:r>
              <a:rPr sz="1800" b="1">
                <a:solidFill>
                  <a:srgbClr val="002060"/>
                </a:solidFill>
                <a:latin typeface="Times New Roman"/>
              </a:rPr>
              <a:t>•  Multi-Layer Scam Detection: </a:t>
            </a:r>
            <a:r>
              <a:rPr sz="1800" b="0">
                <a:solidFill>
                  <a:srgbClr val="141414"/>
                </a:solidFill>
                <a:latin typeface="Times New Roman"/>
              </a:rPr>
              <a:t>Provides robust defense against sophisticated phishing, fake offers, and financial recruitment frauds.</a:t>
            </a:r>
          </a:p>
          <a:p>
            <a:pPr>
              <a:lnSpc>
                <a:spcPct val="125000"/>
              </a:lnSpc>
              <a:spcAft>
                <a:spcPts val="1300"/>
              </a:spcAft>
            </a:pPr>
            <a:r>
              <a:rPr sz="1800" b="1">
                <a:solidFill>
                  <a:srgbClr val="002060"/>
                </a:solidFill>
                <a:latin typeface="Times New Roman"/>
              </a:rPr>
              <a:t>•  AI-Powered Semantic Analysis: </a:t>
            </a:r>
            <a:r>
              <a:rPr sz="1800" b="0">
                <a:solidFill>
                  <a:srgbClr val="141414"/>
                </a:solidFill>
                <a:latin typeface="Times New Roman"/>
              </a:rPr>
              <a:t>Detects subtle linguistic inconsistencies, suspicious urgency, and unauthorized communication channels.</a:t>
            </a:r>
          </a:p>
          <a:p>
            <a:pPr>
              <a:lnSpc>
                <a:spcPct val="125000"/>
              </a:lnSpc>
              <a:spcAft>
                <a:spcPts val="1300"/>
              </a:spcAft>
            </a:pPr>
            <a:r>
              <a:rPr sz="1800" b="1">
                <a:solidFill>
                  <a:srgbClr val="002060"/>
                </a:solidFill>
                <a:latin typeface="Times New Roman"/>
              </a:rPr>
              <a:t>•  Automated Domain &amp; Digital Validation: </a:t>
            </a:r>
            <a:r>
              <a:rPr sz="1800" b="0">
                <a:solidFill>
                  <a:srgbClr val="141414"/>
                </a:solidFill>
                <a:latin typeface="Times New Roman"/>
              </a:rPr>
              <a:t>Performs real-time domain health checks and public company footprint verification.</a:t>
            </a:r>
          </a:p>
          <a:p>
            <a:pPr>
              <a:lnSpc>
                <a:spcPct val="125000"/>
              </a:lnSpc>
              <a:spcAft>
                <a:spcPts val="1300"/>
              </a:spcAft>
            </a:pPr>
            <a:r>
              <a:rPr sz="1800" b="1">
                <a:solidFill>
                  <a:srgbClr val="002060"/>
                </a:solidFill>
                <a:latin typeface="Times New Roman"/>
              </a:rPr>
              <a:t>•  Unified 0–100 Safety Score: </a:t>
            </a:r>
            <a:r>
              <a:rPr sz="1800" b="0">
                <a:solidFill>
                  <a:srgbClr val="141414"/>
                </a:solidFill>
                <a:latin typeface="Times New Roman"/>
              </a:rPr>
              <a:t>Presents an intuitive, color-coded confidence score for rapid user decision-making.</a:t>
            </a:r>
          </a:p>
          <a:p>
            <a:pPr>
              <a:lnSpc>
                <a:spcPct val="125000"/>
              </a:lnSpc>
              <a:spcAft>
                <a:spcPts val="1300"/>
              </a:spcAft>
            </a:pPr>
            <a:r>
              <a:rPr sz="1800" b="1">
                <a:solidFill>
                  <a:srgbClr val="002060"/>
                </a:solidFill>
                <a:latin typeface="Times New Roman"/>
              </a:rPr>
              <a:t>•  Explainable Red-Flag Alerts: </a:t>
            </a:r>
            <a:r>
              <a:rPr sz="1800" b="0">
                <a:solidFill>
                  <a:srgbClr val="141414"/>
                </a:solidFill>
                <a:latin typeface="Times New Roman"/>
              </a:rPr>
              <a:t>Itemizes exact reasons behind a low score, empowering users with actionable safety insights.</a:t>
            </a:r>
          </a:p>
          <a:p>
            <a:pPr>
              <a:lnSpc>
                <a:spcPct val="125000"/>
              </a:lnSpc>
              <a:spcAft>
                <a:spcPts val="1300"/>
              </a:spcAft>
            </a:pPr>
            <a:r>
              <a:rPr sz="1800" b="1">
                <a:solidFill>
                  <a:srgbClr val="002060"/>
                </a:solidFill>
                <a:latin typeface="Times New Roman"/>
              </a:rPr>
              <a:t>•  Dual-Interface Flexibility: </a:t>
            </a:r>
            <a:r>
              <a:rPr sz="1800" b="0">
                <a:solidFill>
                  <a:srgbClr val="141414"/>
                </a:solidFill>
                <a:latin typeface="Times New Roman"/>
              </a:rPr>
              <a:t>Full-featured Flask web portal complemented by an instant-scan Chrome Extension.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1_0_Picture 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310896"/>
            <a:ext cx="2816352" cy="6492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017520" y="256032"/>
            <a:ext cx="86868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02060"/>
                </a:solidFill>
                <a:latin typeface="Times New Roman"/>
              </a:defRPr>
            </a:pPr>
            <a:r>
              <a:t>RESULTS &amp; PERFORMANCE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" y="626364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7F7F7F"/>
                </a:solidFill>
                <a:latin typeface="Times New Roman"/>
              </a:defRPr>
            </a:pPr>
            <a:r>
              <a:t>ShieldJob AI: Multi-Modal Fake Job Detection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26364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>
                <a:solidFill>
                  <a:srgbClr val="7F7F7F"/>
                </a:solidFill>
                <a:latin typeface="Times New Roman"/>
              </a:defRPr>
            </a:pPr>
            <a: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10607040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1300"/>
              </a:spcAft>
            </a:pPr>
            <a:r>
              <a:rPr sz="1800" b="1">
                <a:solidFill>
                  <a:srgbClr val="002060"/>
                </a:solidFill>
                <a:latin typeface="Times New Roman"/>
              </a:rPr>
              <a:t>•  Dataset Benchmark: </a:t>
            </a:r>
            <a:r>
              <a:rPr sz="1800" b="0">
                <a:solidFill>
                  <a:srgbClr val="141414"/>
                </a:solidFill>
                <a:latin typeface="Times New Roman"/>
              </a:rPr>
              <a:t>Trained on the EMSCAD benchmark dataset containing 17,880 real-world job posting records.</a:t>
            </a:r>
          </a:p>
          <a:p>
            <a:pPr>
              <a:lnSpc>
                <a:spcPct val="125000"/>
              </a:lnSpc>
              <a:spcAft>
                <a:spcPts val="1300"/>
              </a:spcAft>
            </a:pPr>
            <a:r>
              <a:rPr sz="1800" b="1">
                <a:solidFill>
                  <a:srgbClr val="002060"/>
                </a:solidFill>
                <a:latin typeface="Times New Roman"/>
              </a:rPr>
              <a:t>•  Core ML Classifier: </a:t>
            </a:r>
            <a:r>
              <a:rPr sz="1800" b="0">
                <a:solidFill>
                  <a:srgbClr val="141414"/>
                </a:solidFill>
                <a:latin typeface="Times New Roman"/>
              </a:rPr>
              <a:t>Balanced Random Forest Classifier addressing severe class imbalance in recruitment data.</a:t>
            </a:r>
          </a:p>
          <a:p>
            <a:pPr>
              <a:lnSpc>
                <a:spcPct val="125000"/>
              </a:lnSpc>
              <a:spcAft>
                <a:spcPts val="1300"/>
              </a:spcAft>
            </a:pPr>
            <a:r>
              <a:rPr sz="1800" b="1">
                <a:solidFill>
                  <a:srgbClr val="002060"/>
                </a:solidFill>
                <a:latin typeface="Times New Roman"/>
              </a:rPr>
              <a:t>•  Primary Accuracy Result: </a:t>
            </a:r>
            <a:r>
              <a:rPr sz="1800" b="0">
                <a:solidFill>
                  <a:srgbClr val="141414"/>
                </a:solidFill>
                <a:latin typeface="Times New Roman"/>
              </a:rPr>
              <a:t>Achieved an outstanding 98.05% overall classification accuracy.</a:t>
            </a:r>
          </a:p>
          <a:p>
            <a:pPr>
              <a:lnSpc>
                <a:spcPct val="125000"/>
              </a:lnSpc>
              <a:spcAft>
                <a:spcPts val="1300"/>
              </a:spcAft>
            </a:pPr>
            <a:r>
              <a:rPr sz="1800" b="1">
                <a:solidFill>
                  <a:srgbClr val="002060"/>
                </a:solidFill>
                <a:latin typeface="Times New Roman"/>
              </a:rPr>
              <a:t>•  Precision &amp; Recall: </a:t>
            </a:r>
            <a:r>
              <a:rPr sz="1800" b="0">
                <a:solidFill>
                  <a:srgbClr val="141414"/>
                </a:solidFill>
                <a:latin typeface="Times New Roman"/>
              </a:rPr>
              <a:t>79.10% Precision (low false alarms) and 81.29% Recall (high fraud capture rate).</a:t>
            </a:r>
          </a:p>
          <a:p>
            <a:pPr>
              <a:lnSpc>
                <a:spcPct val="125000"/>
              </a:lnSpc>
              <a:spcAft>
                <a:spcPts val="1300"/>
              </a:spcAft>
            </a:pPr>
            <a:r>
              <a:rPr sz="1800" b="1">
                <a:solidFill>
                  <a:srgbClr val="002060"/>
                </a:solidFill>
                <a:latin typeface="Times New Roman"/>
              </a:rPr>
              <a:t>•  F1-Score &amp; ROC-AUC: </a:t>
            </a:r>
            <a:r>
              <a:rPr sz="1800" b="0">
                <a:solidFill>
                  <a:srgbClr val="141414"/>
                </a:solidFill>
                <a:latin typeface="Times New Roman"/>
              </a:rPr>
              <a:t>F1-Score of 80.18% and ROC-AUC of 98.49%, demonstrating superior class discrimination.</a:t>
            </a:r>
          </a:p>
          <a:p>
            <a:pPr>
              <a:lnSpc>
                <a:spcPct val="125000"/>
              </a:lnSpc>
              <a:spcAft>
                <a:spcPts val="1300"/>
              </a:spcAft>
            </a:pPr>
            <a:r>
              <a:rPr sz="1800" b="1">
                <a:solidFill>
                  <a:srgbClr val="002060"/>
                </a:solidFill>
                <a:latin typeface="Times New Roman"/>
              </a:rPr>
              <a:t>•  Production Deployment: </a:t>
            </a:r>
            <a:r>
              <a:rPr sz="1800" b="0">
                <a:solidFill>
                  <a:srgbClr val="141414"/>
                </a:solidFill>
                <a:latin typeface="Times New Roman"/>
              </a:rPr>
              <a:t>Successfully deployed and operational on Render cloud platform with public GitHub repository.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1_0_Picture 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310896"/>
            <a:ext cx="2816352" cy="6492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017520" y="256032"/>
            <a:ext cx="86868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02060"/>
                </a:solidFill>
                <a:latin typeface="Times New Roman"/>
              </a:defRPr>
            </a:pPr>
            <a:r>
              <a:t>KEY LEARNINGS &amp;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" y="626364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7F7F7F"/>
                </a:solidFill>
                <a:latin typeface="Times New Roman"/>
              </a:defRPr>
            </a:pPr>
            <a:r>
              <a:t>ShieldJob AI: Multi-Modal Fake Job Detection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26364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>
                <a:solidFill>
                  <a:srgbClr val="7F7F7F"/>
                </a:solidFill>
                <a:latin typeface="Times New Roman"/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10607040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1800" b="1">
                <a:solidFill>
                  <a:srgbClr val="002060"/>
                </a:solidFill>
                <a:latin typeface="Times New Roman"/>
              </a:rPr>
              <a:t>•  Applied Machine Learning: </a:t>
            </a:r>
            <a:r>
              <a:rPr sz="1800" b="0">
                <a:solidFill>
                  <a:srgbClr val="141414"/>
                </a:solidFill>
                <a:latin typeface="Times New Roman"/>
              </a:rPr>
              <a:t>Gained deep practical experience in data preprocessing, TF-IDF feature extraction, and ensemble tuning.</a:t>
            </a:r>
          </a:p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1800" b="1">
                <a:solidFill>
                  <a:srgbClr val="002060"/>
                </a:solidFill>
                <a:latin typeface="Times New Roman"/>
              </a:rPr>
              <a:t>•  Generative AI Integration: </a:t>
            </a:r>
            <a:r>
              <a:rPr sz="1800" b="0">
                <a:solidFill>
                  <a:srgbClr val="141414"/>
                </a:solidFill>
                <a:latin typeface="Times New Roman"/>
              </a:rPr>
              <a:t>Mastered LLM API integration (Gemini 2.5 Flash), prompt engineering, and combining ML with GenAI.</a:t>
            </a:r>
          </a:p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1800" b="1">
                <a:solidFill>
                  <a:srgbClr val="002060"/>
                </a:solidFill>
                <a:latin typeface="Times New Roman"/>
              </a:rPr>
              <a:t>•  Full-Stack &amp; Extension Engineering: </a:t>
            </a:r>
            <a:r>
              <a:rPr sz="1800" b="0">
                <a:solidFill>
                  <a:srgbClr val="141414"/>
                </a:solidFill>
                <a:latin typeface="Times New Roman"/>
              </a:rPr>
              <a:t>Engineered REST APIs in Flask, dynamic user interfaces, and Chrome Manifest V3 extensions.</a:t>
            </a:r>
          </a:p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1800" b="1">
                <a:solidFill>
                  <a:srgbClr val="002060"/>
                </a:solidFill>
                <a:latin typeface="Times New Roman"/>
              </a:rPr>
              <a:t>•  Web Automation &amp; Scraping: </a:t>
            </a:r>
            <a:r>
              <a:rPr sz="1800" b="0">
                <a:solidFill>
                  <a:srgbClr val="141414"/>
                </a:solidFill>
                <a:latin typeface="Times New Roman"/>
              </a:rPr>
              <a:t>Built automated web scrapers with BeautifulSoup and implemented real-time HTTP verification.</a:t>
            </a:r>
          </a:p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1800" b="1">
                <a:solidFill>
                  <a:srgbClr val="002060"/>
                </a:solidFill>
                <a:latin typeface="Times New Roman"/>
              </a:rPr>
              <a:t>•  Cloud Deployment &amp; Reliability: </a:t>
            </a:r>
            <a:r>
              <a:rPr sz="1800" b="0">
                <a:solidFill>
                  <a:srgbClr val="141414"/>
                </a:solidFill>
                <a:latin typeface="Times New Roman"/>
              </a:rPr>
              <a:t>Configured production servers with Gunicorn, handled edge cases, and deployed live to Render.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1_0_Picture 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310896"/>
            <a:ext cx="2816352" cy="6492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017520" y="256032"/>
            <a:ext cx="86868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02060"/>
                </a:solidFill>
                <a:latin typeface="Times New Roman"/>
              </a:defRPr>
            </a:pPr>
            <a:r>
              <a:t>PROJECT DEMONSTRATION TRANSITION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" y="626364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7F7F7F"/>
                </a:solidFill>
                <a:latin typeface="Times New Roman"/>
              </a:defRPr>
            </a:pPr>
            <a:r>
              <a:t>ShieldJob AI: Multi-Modal Fake Job Detection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26364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>
                <a:solidFill>
                  <a:srgbClr val="7F7F7F"/>
                </a:solidFill>
                <a:latin typeface="Times New Roman"/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10607040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1900" b="1">
                <a:solidFill>
                  <a:srgbClr val="002060"/>
                </a:solidFill>
                <a:latin typeface="Times New Roman"/>
              </a:rPr>
              <a:t>•  Transition to Live Demo: </a:t>
            </a:r>
            <a:r>
              <a:rPr sz="1900" b="0">
                <a:solidFill>
                  <a:srgbClr val="141414"/>
                </a:solidFill>
                <a:latin typeface="Times New Roman"/>
              </a:rPr>
              <a:t>Concluding the presentation overview to demonstrate the ShieldJob AI system in real time.</a:t>
            </a:r>
          </a:p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1900" b="1">
                <a:solidFill>
                  <a:srgbClr val="002060"/>
                </a:solidFill>
                <a:latin typeface="Times New Roman"/>
              </a:rPr>
              <a:t>•  Live Web Application Demonstration: </a:t>
            </a:r>
            <a:r>
              <a:rPr sz="1900" b="0">
                <a:solidFill>
                  <a:srgbClr val="141414"/>
                </a:solidFill>
                <a:latin typeface="Times New Roman"/>
              </a:rPr>
              <a:t>Testing legitimate and fraudulent job postings on the live Flask web portal.</a:t>
            </a:r>
          </a:p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1900" b="1">
                <a:solidFill>
                  <a:srgbClr val="002060"/>
                </a:solidFill>
                <a:latin typeface="Times New Roman"/>
              </a:rPr>
              <a:t>•  Chrome Extension Live Scan: </a:t>
            </a:r>
            <a:r>
              <a:rPr sz="1900" b="0">
                <a:solidFill>
                  <a:srgbClr val="141414"/>
                </a:solidFill>
                <a:latin typeface="Times New Roman"/>
              </a:rPr>
              <a:t>Demonstrating on-the-fly job verification directly on job portal postings.</a:t>
            </a:r>
          </a:p>
          <a:p>
            <a:pPr>
              <a:lnSpc>
                <a:spcPct val="125000"/>
              </a:lnSpc>
              <a:spcAft>
                <a:spcPts val="1600"/>
              </a:spcAft>
            </a:pPr>
            <a:r>
              <a:rPr sz="1900" b="1">
                <a:solidFill>
                  <a:srgbClr val="002060"/>
                </a:solidFill>
                <a:latin typeface="Times New Roman"/>
              </a:rPr>
              <a:t>•  Verification Breakdown: </a:t>
            </a:r>
            <a:r>
              <a:rPr sz="1900" b="0">
                <a:solidFill>
                  <a:srgbClr val="141414"/>
                </a:solidFill>
                <a:latin typeface="Times New Roman"/>
              </a:rPr>
              <a:t>Observing real-time ML classification, Gemini AI red-flag detection, and 0–100 Safety Score calculation.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1_0_Picture 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310896"/>
            <a:ext cx="2816352" cy="6492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017520" y="256032"/>
            <a:ext cx="86868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02060"/>
                </a:solidFill>
                <a:latin typeface="Times New Roman"/>
              </a:defRPr>
            </a:pPr>
            <a:r>
              <a:t>SPEAKING SCRIPT: SLIDES 1 TO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" y="626364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7F7F7F"/>
                </a:solidFill>
                <a:latin typeface="Times New Roman"/>
              </a:defRPr>
            </a:pPr>
            <a:r>
              <a:t>ShieldJob AI: Multi-Modal Fake Job Detection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26364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>
                <a:solidFill>
                  <a:srgbClr val="7F7F7F"/>
                </a:solidFill>
                <a:latin typeface="Times New Roman"/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10607040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600" b="1">
                <a:solidFill>
                  <a:srgbClr val="002060"/>
                </a:solidFill>
                <a:latin typeface="Times New Roman"/>
              </a:rPr>
              <a:t>•  Slide 1 — Title &amp; Overview (~35s): </a:t>
            </a:r>
            <a:r>
              <a:rPr sz="1600" b="0">
                <a:solidFill>
                  <a:srgbClr val="141414"/>
                </a:solidFill>
                <a:latin typeface="Times New Roman"/>
              </a:rPr>
              <a:t>"Respected panel members and faculty, good morning. Today, I am presenting my internship review on the work I completed at VedXlence Innovations Pvt. Ltd., Hyderabad. I completed a two-month offline internship in Machine Learning with Python from May 6, 2026 to July 5, 2026 under the AICTE-certified upskilling program."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600" b="1">
                <a:solidFill>
                  <a:srgbClr val="002060"/>
                </a:solidFill>
                <a:latin typeface="Times New Roman"/>
              </a:rPr>
              <a:t>•  Slide 2 — Internship Overview (~30s): </a:t>
            </a:r>
            <a:r>
              <a:rPr sz="1600" b="0">
                <a:solidFill>
                  <a:srgbClr val="141414"/>
                </a:solidFill>
                <a:latin typeface="Times New Roman"/>
              </a:rPr>
              <a:t>"VedXlence Innovations provided structured technical training and hands-on project implementation, helping bridge academic machine learning concepts with production-ready software development."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600" b="1">
                <a:solidFill>
                  <a:srgbClr val="002060"/>
                </a:solidFill>
                <a:latin typeface="Times New Roman"/>
              </a:rPr>
              <a:t>•  Slide 3 — Work &amp; Responsibilities (~45s): </a:t>
            </a:r>
            <a:r>
              <a:rPr sz="1600" b="0">
                <a:solidFill>
                  <a:srgbClr val="141414"/>
                </a:solidFill>
                <a:latin typeface="Times New Roman"/>
              </a:rPr>
              <a:t>"During this internship, my responsibilities spanned the complete development lifecycle: data preprocessing on 17,880 job records, NLP feature extraction with TF-IDF, training a Balanced Random Forest classifier, integrating Gemini AI, building website and social footprint checkers, developing a Flask web app and Chrome extension, and deploying to Render."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1_0_Picture 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310896"/>
            <a:ext cx="2816352" cy="6492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017520" y="256032"/>
            <a:ext cx="86868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02060"/>
                </a:solidFill>
                <a:latin typeface="Times New Roman"/>
              </a:defRPr>
            </a:pPr>
            <a:r>
              <a:t>SPEAKING SCRIPT: SLIDES 4 TO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" y="626364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7F7F7F"/>
                </a:solidFill>
                <a:latin typeface="Times New Roman"/>
              </a:defRPr>
            </a:pPr>
            <a:r>
              <a:t>ShieldJob AI: Multi-Modal Fake Job Detection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26364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>
                <a:solidFill>
                  <a:srgbClr val="7F7F7F"/>
                </a:solidFill>
                <a:latin typeface="Times New Roman"/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10607040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002060"/>
                </a:solidFill>
                <a:latin typeface="Times New Roman"/>
              </a:rPr>
              <a:t>•  Slide 4 — Skills Learned (~40s): </a:t>
            </a:r>
            <a:r>
              <a:rPr sz="1500" b="0">
                <a:solidFill>
                  <a:srgbClr val="141414"/>
                </a:solidFill>
                <a:latin typeface="Times New Roman"/>
              </a:rPr>
              <a:t>"I developed competencies in Python, Flask, Scikit-learn, and NLP, along with Generative AI prompt engineering with Gemini 2.5 Flash, web scraping with BeautifulSoup, Chrome Extension development, Git version control, and cloud deployment on Render."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002060"/>
                </a:solidFill>
                <a:latin typeface="Times New Roman"/>
              </a:rPr>
              <a:t>•  Slide 5 — Project Introduction (~45s): </a:t>
            </a:r>
            <a:r>
              <a:rPr sz="1500" b="0">
                <a:solidFill>
                  <a:srgbClr val="141414"/>
                </a:solidFill>
                <a:latin typeface="Times New Roman"/>
              </a:rPr>
              <a:t>"As my capstone project, I built ShieldJob AI – a Multi-Modal Fake Job Detection System. It tackles the growing menace of recruitment scams by automatically evaluating whether a job posting is legitimate, suspicious, or fraudulent using multi-modal cross-verification."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002060"/>
                </a:solidFill>
                <a:latin typeface="Times New Roman"/>
              </a:rPr>
              <a:t>•  Slide 6 — Workflow &amp; Weights (~45s): </a:t>
            </a:r>
            <a:r>
              <a:rPr sz="1500" b="0">
                <a:solidFill>
                  <a:srgbClr val="141414"/>
                </a:solidFill>
                <a:latin typeface="Times New Roman"/>
              </a:rPr>
              <a:t>"The system integrates four checks: ML text analysis (30%), Gemini AI contextual analysis (30%), company website verification (20%), and public social footprint checking (20%). These compute a unified 0–100 Safety Score with explainable red flags."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002060"/>
                </a:solidFill>
                <a:latin typeface="Times New Roman"/>
              </a:rPr>
              <a:t>•  Slide 7 — Key Features (~35s): </a:t>
            </a:r>
            <a:r>
              <a:rPr sz="1500" b="0">
                <a:solidFill>
                  <a:srgbClr val="141414"/>
                </a:solidFill>
                <a:latin typeface="Times New Roman"/>
              </a:rPr>
              <a:t>"Features include multi-layer fraud detection, AI content analysis, real-time website validation, a 0–100 trust score, explainable red flags, and dual access via web application and Chrome extension."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1_0_Picture 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310896"/>
            <a:ext cx="2816352" cy="6492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017520" y="256032"/>
            <a:ext cx="86868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02060"/>
                </a:solidFill>
                <a:latin typeface="Times New Roman"/>
              </a:defRPr>
            </a:pPr>
            <a:r>
              <a:t>SPEAKING SCRIPT: SLIDES 8 TO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" y="626364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7F7F7F"/>
                </a:solidFill>
                <a:latin typeface="Times New Roman"/>
              </a:defRPr>
            </a:pPr>
            <a:r>
              <a:t>ShieldJob AI: Multi-Modal Fake Job Detection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26364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>
                <a:solidFill>
                  <a:srgbClr val="7F7F7F"/>
                </a:solidFill>
                <a:latin typeface="Times New Roman"/>
              </a:defRPr>
            </a:pPr>
            <a: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10607040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600" b="1">
                <a:solidFill>
                  <a:srgbClr val="002060"/>
                </a:solidFill>
                <a:latin typeface="Times New Roman"/>
              </a:rPr>
              <a:t>•  Slide 8 — Results &amp; Metrics (~40s): </a:t>
            </a:r>
            <a:r>
              <a:rPr sz="1600" b="0">
                <a:solidFill>
                  <a:srgbClr val="141414"/>
                </a:solidFill>
                <a:latin typeface="Times New Roman"/>
              </a:rPr>
              <a:t>"Trained on 17,880 postings from the EMSCAD dataset, our Balanced Random Forest model achieved 98.05% overall accuracy, 98.49% ROC-AUC, 79.10% precision, and 81.29% recall, fully deployed and operational on Render."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600" b="1">
                <a:solidFill>
                  <a:srgbClr val="002060"/>
                </a:solidFill>
                <a:latin typeface="Times New Roman"/>
              </a:rPr>
              <a:t>•  Slide 9 — Key Learnings (~35s): </a:t>
            </a:r>
            <a:r>
              <a:rPr sz="1600" b="0">
                <a:solidFill>
                  <a:srgbClr val="141414"/>
                </a:solidFill>
                <a:latin typeface="Times New Roman"/>
              </a:rPr>
              <a:t>"This internship provided me with practical end-to-end experience in machine learning pipelines, GenAI orchestration, browser extension engineering, and cloud deployment."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600" b="1">
                <a:solidFill>
                  <a:srgbClr val="002060"/>
                </a:solidFill>
                <a:latin typeface="Times New Roman"/>
              </a:rPr>
              <a:t>•  Slide 10 &amp; 11 — Demo Transition (~15s): </a:t>
            </a:r>
            <a:r>
              <a:rPr sz="1600" b="0">
                <a:solidFill>
                  <a:srgbClr val="141414"/>
                </a:solidFill>
                <a:latin typeface="Times New Roman"/>
              </a:rPr>
              <a:t>"I have now presented the internship summary and project design. I will now transition to the live demonstration of the ShieldJob AI application and Chrome extension to show the system working in real time. Thank you."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1_0_Picture 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5264" y="365760"/>
            <a:ext cx="5687568" cy="130759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011680"/>
            <a:ext cx="10360152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800"/>
              </a:spcAft>
              <a:defRPr sz="4400" b="1">
                <a:solidFill>
                  <a:srgbClr val="002060"/>
                </a:solidFill>
                <a:latin typeface="Times New Roman"/>
              </a:defRPr>
            </a:pPr>
            <a:r>
              <a:t>THANK YOU</a:t>
            </a:r>
          </a:p>
          <a:p>
            <a:pPr algn="ctr">
              <a:spcAft>
                <a:spcPts val="2000"/>
              </a:spcAft>
              <a:defRPr sz="2200" b="1">
                <a:solidFill>
                  <a:srgbClr val="1F4E79"/>
                </a:solidFill>
                <a:latin typeface="Times New Roman"/>
              </a:defRPr>
            </a:pPr>
            <a:r>
              <a:t>Questions &amp; Discussion</a:t>
            </a:r>
          </a:p>
          <a:p>
            <a:pPr algn="ctr">
              <a:defRPr sz="1700" b="0">
                <a:solidFill>
                  <a:srgbClr val="141414"/>
                </a:solidFill>
                <a:latin typeface="Times New Roman"/>
              </a:defRPr>
            </a:pPr>
            <a:r>
              <a:t>Tanuku Ram Sai  (PIN: 24A95A0503)</a:t>
            </a:r>
            <a:br/>
            <a:r>
              <a:t>Department of Computer Science &amp; Engineering</a:t>
            </a:r>
            <a:br/>
            <a:r>
              <a:t>Aditya University, Surampalem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